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외부 자료 인용 없음. 본 문서는 요청사항을 기반으로 작성한 샘플입니다.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외부 자료 인용 없음. 본 문서는 요청사항을 기반으로 작성한 샘플입니다.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외부 자료 인용 없음. 본 문서는 요청사항을 기반으로 작성한 샘플입니다.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외부 자료 인용 없음. 본 문서는 요청사항을 기반으로 작성한 샘플입니다.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외부 자료 인용 없음. 본 문서는 요청사항을 기반으로 작성한 샘플입니다.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외부 자료 인용 없음. 본 문서는 요청사항을 기반으로 작성한 샘플입니다.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외부 자료 인용 없음. 본 문서는 요청사항을 기반으로 작성한 샘플입니다.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외부 자료 인용 없음. 본 문서는 요청사항을 기반으로 작성한 샘플입니다.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외부 자료 인용 없음. 본 문서는 요청사항을 기반으로 작성한 샘플입니다.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외부 자료 인용 없음. 본 문서는 요청사항을 기반으로 작성한 샘플입니다.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97680" y="0"/>
            <a:ext cx="164592" cy="6858000"/>
          </a:xfrm>
          <a:prstGeom prst="rect">
            <a:avLst/>
          </a:prstGeom>
          <a:solidFill>
            <a:srgbClr val="10B3A3"/>
          </a:solidFill>
          <a:ln w="12700">
            <a:solidFill>
              <a:srgbClr val="10B3A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92040" y="132588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고객서비스사용신청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웹페이지 개발 프로젝트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919472" y="2743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 / Backend 개발이 포함된 웹 서비스 구축 샘플 제안서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10328" y="321868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326440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19472" y="37307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배경 · 개요 · 요구사항 · 시스템 구성도 · Use Case · Sequence Diagram · 품질지표 · 조직구성 · 이슈/해결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097280"/>
            <a:ext cx="2788920" cy="20116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52" y="3657600"/>
            <a:ext cx="2103120" cy="1874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" y="5897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Digital Channel Project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469880" y="6245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배경 및 프로젝트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고객서비스 사용 신청을 온라인으로 일원화하기 위한 웹 채널 구축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7043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1615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55448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9FBFD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82496"/>
            <a:ext cx="5111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추진 배경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199339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38528"/>
            <a:ext cx="4581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오프라인/전화 기반 접수로 인해 신청 절차가 길고 고객 이탈이 발생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41248" y="2670048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615184"/>
            <a:ext cx="4581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서비스별 신청 화면과 검증 방식이 달라 사용자 경험 및 운영 기준이 불일치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41248" y="334670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291840"/>
            <a:ext cx="4581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접수 데이터, 첨부파일, 상태 이력 관리가 분산되어 처리 지연 및 추적 어려움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41248" y="4023360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968496"/>
            <a:ext cx="4581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본인인증·약관동의·알림 발송을 표준화한 공통 웹 플랫폼 필요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17920" y="1170432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21615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537667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82512" y="1682496"/>
            <a:ext cx="5047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범위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3952" y="19751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3A3"/>
                </a:solidFill>
              </a:rPr>
              <a:t>프로젝트 목표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73952" y="22311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937"/>
                </a:solidFill>
              </a:rPr>
              <a:t>고객이 웹에서 서비스 사용을 신청하고, 운영자가 접수·검수·승인까지 처리할 수 있는 통합 신청 채널 구축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473952" y="28163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3A3"/>
                </a:solidFill>
              </a:rPr>
              <a:t>개발 범위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316382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0256" y="3108960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프론트엔드: 신청 페이지, 약관/폼 UI, 상태 조회, 관리자 화면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6492240" y="357530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3520440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백엔드: 신청 API, 인증/검증, 파일 업로드, 알림, 이력/상태 관리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492240" y="398678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0256" y="3931920"/>
            <a:ext cx="4443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연계: 본인인증, CRM/접수시스템, 메시지 발송, 로그/모니터링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6473952" y="4443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3A3"/>
                </a:solidFill>
              </a:rPr>
              <a:t>기대 효과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92240" y="4773168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0256" y="4718304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신청 소요시간 단축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6492240" y="5120640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0256" y="5065776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접수 오류 및 누락 감소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6492240" y="546811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5413248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생산성 향상과 추적성 확보</a:t>
            </a:r>
            <a:endParaRPr lang="en-US" sz="1060" dirty="0"/>
          </a:p>
        </p:txBody>
      </p:sp>
      <p:sp>
        <p:nvSpPr>
          <p:cNvPr id="38" name="Text 36"/>
          <p:cNvSpPr/>
          <p:nvPr/>
        </p:nvSpPr>
        <p:spPr>
          <a:xfrm>
            <a:off x="10515600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0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Project Deck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요구사항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요구사항과 비기능 요구사항을 구분하여 정의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532120" cy="5120640"/>
          </a:xfrm>
          <a:prstGeom prst="roundRect">
            <a:avLst>
              <a:gd name="adj" fmla="val 1429"/>
            </a:avLst>
          </a:prstGeom>
          <a:solidFill>
            <a:srgbClr val="F9FBFD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53896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요구사항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376672" cy="5120640"/>
          </a:xfrm>
          <a:prstGeom prst="roundRect">
            <a:avLst>
              <a:gd name="adj" fmla="val 1429"/>
            </a:avLst>
          </a:prstGeom>
          <a:solidFill>
            <a:srgbClr val="F9FBFD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9944" y="1453896"/>
            <a:ext cx="5047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비기능 요구사항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1783080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9280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</a:rPr>
              <a:t>신청 접수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084832" y="183794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서비스 선택, 고객정보 입력, 신청서 작성, 첨부파일 업로드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41248" y="2651760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6148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</a:rPr>
              <a:t>본인인증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084832" y="270662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휴대폰/공동인증 등 외부 인증수단 연계 및 결과 검증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41248" y="3520440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</a:rPr>
              <a:t>약관 동의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084832" y="35753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필수/선택 항목 구분, 버전 관리, 동의 이력 저장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41248" y="4389120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49884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</a:rPr>
              <a:t>상태 조회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084832" y="444398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접수/검수/보완요청/완료 상태를 고객이 실시간 조회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41248" y="5257800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36752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F6BFF"/>
                </a:solidFill>
              </a:rPr>
              <a:t>운영자 처리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2084832" y="53126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관리자 검색, 검수, 보완 요청, 승인/반려, 이력 조회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510528" y="1783080"/>
            <a:ext cx="914400" cy="420624"/>
          </a:xfrm>
          <a:prstGeom prst="roundRect">
            <a:avLst>
              <a:gd name="adj" fmla="val 10870"/>
            </a:avLst>
          </a:prstGeom>
          <a:solidFill>
            <a:srgbClr val="DDF6F3"/>
          </a:solidFill>
          <a:ln w="12700">
            <a:solidFill>
              <a:srgbClr val="DDF6F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89280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B3A3"/>
                </a:solidFill>
              </a:rPr>
              <a:t>성능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635240" y="18379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주요 화면 로딩 3초 이내, API 평균 응답 1초 이내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510528" y="2651760"/>
            <a:ext cx="914400" cy="420624"/>
          </a:xfrm>
          <a:prstGeom prst="roundRect">
            <a:avLst>
              <a:gd name="adj" fmla="val 10870"/>
            </a:avLst>
          </a:prstGeom>
          <a:solidFill>
            <a:srgbClr val="DDF6F3"/>
          </a:solidFill>
          <a:ln w="12700">
            <a:solidFill>
              <a:srgbClr val="DDF6F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76148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B3A3"/>
                </a:solidFill>
              </a:rPr>
              <a:t>가용성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7635240" y="270662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서비스 가용률 99.9% 이상, 장애 감지 및 알림 체계 적용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510528" y="3520440"/>
            <a:ext cx="914400" cy="420624"/>
          </a:xfrm>
          <a:prstGeom prst="roundRect">
            <a:avLst>
              <a:gd name="adj" fmla="val 10870"/>
            </a:avLst>
          </a:prstGeom>
          <a:solidFill>
            <a:srgbClr val="DDF6F3"/>
          </a:solidFill>
          <a:ln w="12700">
            <a:solidFill>
              <a:srgbClr val="DDF6F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63016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B3A3"/>
                </a:solidFill>
              </a:rPr>
              <a:t>보안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7635240" y="357530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HTTPS, 입력값 검증, 권한 통제, 개인정보 암호화 및 마스킹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510528" y="4389120"/>
            <a:ext cx="914400" cy="420624"/>
          </a:xfrm>
          <a:prstGeom prst="roundRect">
            <a:avLst>
              <a:gd name="adj" fmla="val 10870"/>
            </a:avLst>
          </a:prstGeom>
          <a:solidFill>
            <a:srgbClr val="DDF6F3"/>
          </a:solidFill>
          <a:ln w="12700">
            <a:solidFill>
              <a:srgbClr val="DDF6F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49884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B3A3"/>
                </a:solidFill>
              </a:rPr>
              <a:t>운영성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7635240" y="44439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로그 표준화, 추적 ID, 배포/롤백 자동화, 모니터링 대시보드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6510528" y="5257800"/>
            <a:ext cx="914400" cy="420624"/>
          </a:xfrm>
          <a:prstGeom prst="roundRect">
            <a:avLst>
              <a:gd name="adj" fmla="val 10870"/>
            </a:avLst>
          </a:prstGeom>
          <a:solidFill>
            <a:srgbClr val="DDF6F3"/>
          </a:solidFill>
          <a:ln w="12700">
            <a:solidFill>
              <a:srgbClr val="DDF6F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536752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0B3A3"/>
                </a:solidFill>
              </a:rPr>
              <a:t>확장성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7635240" y="531266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신규 서비스 유형 추가 시 공통 컴포넌트 재사용 가능 구조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10515600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0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Project Deck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시스템 구성도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프론트엔드와 백엔드, 외부 연계 및 운영 계층을 포함한 논리 아키텍처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34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사용자 채널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78608" y="12344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웹 애플리케이션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73168" y="12344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백엔드 서비스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52360" y="12344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데이터/운영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12680" y="1234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외부 연계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600200"/>
            <a:ext cx="1508760" cy="10972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5488" y="276148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고객 브라우저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모바일/PC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67712" y="1572768"/>
            <a:ext cx="1828800" cy="43434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C9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432304" y="170078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542032" y="1993392"/>
            <a:ext cx="12984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96896" y="21122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Landing / 안내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2542032" y="2660904"/>
            <a:ext cx="12984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96896" y="277977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신청 Form UI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2542032" y="3328416"/>
            <a:ext cx="12984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96896" y="34472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약관/동의 화면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2542032" y="3995928"/>
            <a:ext cx="12984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96896" y="411480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상태 조회 화면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2542032" y="4663440"/>
            <a:ext cx="12984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96896" y="47823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관리자 대시보드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4498848" y="1572768"/>
            <a:ext cx="2286000" cy="4343400"/>
          </a:xfrm>
          <a:prstGeom prst="roundRect">
            <a:avLst>
              <a:gd name="adj" fmla="val 3200"/>
            </a:avLst>
          </a:prstGeom>
          <a:solidFill>
            <a:srgbClr val="ECFBF8"/>
          </a:solidFill>
          <a:ln w="12700">
            <a:solidFill>
              <a:srgbClr val="BEECE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663440" y="170078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Backend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773168" y="199339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28032" y="2112264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API Gateway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4773168" y="2660904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28032" y="277977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신청 처리 서비스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4773168" y="3328416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28032" y="344728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인증/검증 서비스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4773168" y="3995928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28032" y="4114800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파일 업로드 서비스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4773168" y="466344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8032" y="4782312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F2937"/>
                </a:solidFill>
              </a:rPr>
              <a:t>알림/상태관리 서비스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7132320" y="1572768"/>
            <a:ext cx="2057400" cy="4343400"/>
          </a:xfrm>
          <a:prstGeom prst="roundRect">
            <a:avLst>
              <a:gd name="adj" fmla="val 3556"/>
            </a:avLst>
          </a:prstGeom>
          <a:solidFill>
            <a:srgbClr val="FFF7E8"/>
          </a:solidFill>
          <a:ln w="12700">
            <a:solidFill>
              <a:srgbClr val="F3DFC0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296912" y="1700784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/ Ops</a:t>
            </a:r>
            <a:endParaRPr lang="en-US" sz="125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0" y="2029968"/>
            <a:ext cx="868680" cy="86868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8183880" y="218541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신청 DB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F2937"/>
                </a:solidFill>
              </a:rPr>
              <a:t>이력/상태</a:t>
            </a:r>
            <a:endParaRPr lang="en-US" sz="1020" dirty="0"/>
          </a:p>
        </p:txBody>
      </p:sp>
      <p:sp>
        <p:nvSpPr>
          <p:cNvPr id="41" name="Shape 37"/>
          <p:cNvSpPr/>
          <p:nvPr/>
        </p:nvSpPr>
        <p:spPr>
          <a:xfrm>
            <a:off x="7406640" y="3063240"/>
            <a:ext cx="148132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479792" y="320040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로그 / 모니터링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7406640" y="3767328"/>
            <a:ext cx="148132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479792" y="390448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CI/CD / 배포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7406640" y="4471416"/>
            <a:ext cx="148132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479792" y="460857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보안 / 감사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9473184" y="1572768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F8FAFD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48" name="Text 44"/>
          <p:cNvSpPr/>
          <p:nvPr/>
        </p:nvSpPr>
        <p:spPr>
          <a:xfrm>
            <a:off x="9637776" y="170078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External Interface</a:t>
            </a:r>
            <a:endParaRPr lang="en-US" sz="1250" dirty="0"/>
          </a:p>
        </p:txBody>
      </p:sp>
      <p:sp>
        <p:nvSpPr>
          <p:cNvPr id="49" name="Shape 45"/>
          <p:cNvSpPr/>
          <p:nvPr/>
        </p:nvSpPr>
        <p:spPr>
          <a:xfrm>
            <a:off x="9765792" y="2029968"/>
            <a:ext cx="15727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857232" y="217627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본인인증 기관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9765792" y="2807208"/>
            <a:ext cx="15727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9857232" y="295351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CRM/접수 시스템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9765792" y="3584448"/>
            <a:ext cx="15727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9857232" y="373075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문자·메일 발송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9765792" y="4361688"/>
            <a:ext cx="15727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9857232" y="450799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파일 스토리지</a:t>
            </a:r>
            <a:endParaRPr lang="en-US" sz="1000" dirty="0"/>
          </a:p>
        </p:txBody>
      </p:sp>
      <p:sp>
        <p:nvSpPr>
          <p:cNvPr id="57" name="Shape 53"/>
          <p:cNvSpPr/>
          <p:nvPr/>
        </p:nvSpPr>
        <p:spPr>
          <a:xfrm>
            <a:off x="1938528" y="2331720"/>
            <a:ext cx="237744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58" name="Shape 54"/>
          <p:cNvSpPr/>
          <p:nvPr/>
        </p:nvSpPr>
        <p:spPr>
          <a:xfrm>
            <a:off x="4096512" y="2331720"/>
            <a:ext cx="237744" cy="0"/>
          </a:xfrm>
          <a:prstGeom prst="line">
            <a:avLst/>
          </a:prstGeom>
          <a:noFill/>
          <a:ln w="12700">
            <a:solidFill>
              <a:srgbClr val="10B3A3"/>
            </a:solidFill>
            <a:prstDash val="solid"/>
            <a:headEnd type="none"/>
            <a:tailEnd type="triangle"/>
          </a:ln>
        </p:spPr>
      </p:sp>
      <p:sp>
        <p:nvSpPr>
          <p:cNvPr id="59" name="Shape 55"/>
          <p:cNvSpPr/>
          <p:nvPr/>
        </p:nvSpPr>
        <p:spPr>
          <a:xfrm>
            <a:off x="6784848" y="2331720"/>
            <a:ext cx="237744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60" name="Shape 56"/>
          <p:cNvSpPr/>
          <p:nvPr/>
        </p:nvSpPr>
        <p:spPr>
          <a:xfrm>
            <a:off x="9189720" y="2331720"/>
            <a:ext cx="20116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61" name="Text 57"/>
          <p:cNvSpPr/>
          <p:nvPr/>
        </p:nvSpPr>
        <p:spPr>
          <a:xfrm>
            <a:off x="10515600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0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Project Deck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Use Case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고객과 운영자 관점에서의 핵심 기능 시나리오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828800"/>
            <a:ext cx="777240" cy="1234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12724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FF"/>
                </a:solidFill>
              </a:rPr>
              <a:t>고객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4200" y="1828800"/>
            <a:ext cx="777240" cy="1234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0" y="312724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3A3"/>
                </a:solidFill>
              </a:rPr>
              <a:t>운영자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874520" y="1417320"/>
            <a:ext cx="8321040" cy="4480560"/>
          </a:xfrm>
          <a:prstGeom prst="roundRect">
            <a:avLst>
              <a:gd name="adj" fmla="val 1633"/>
            </a:avLst>
          </a:prstGeom>
          <a:solidFill>
            <a:srgbClr val="FBFCFE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0" y="1783080"/>
            <a:ext cx="205740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816352" y="194767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서비스 신청 시작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5074920" y="1783080"/>
            <a:ext cx="196596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8072" y="194767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본인인증 수행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7315200" y="1783080"/>
            <a:ext cx="201168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88352" y="194767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약관 동의 및 제출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2743200" y="2743200"/>
            <a:ext cx="205740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816352" y="2907792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신청 상태 조회</a:t>
            </a:r>
            <a:endParaRPr lang="en-US" sz="1030" dirty="0"/>
          </a:p>
        </p:txBody>
      </p:sp>
      <p:sp>
        <p:nvSpPr>
          <p:cNvPr id="19" name="Shape 15"/>
          <p:cNvSpPr/>
          <p:nvPr/>
        </p:nvSpPr>
        <p:spPr>
          <a:xfrm>
            <a:off x="5074920" y="2743200"/>
            <a:ext cx="196596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48072" y="290779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신청 내역 수정/보완</a:t>
            </a:r>
            <a:endParaRPr lang="en-US" sz="1030" dirty="0"/>
          </a:p>
        </p:txBody>
      </p:sp>
      <p:sp>
        <p:nvSpPr>
          <p:cNvPr id="21" name="Shape 17"/>
          <p:cNvSpPr/>
          <p:nvPr/>
        </p:nvSpPr>
        <p:spPr>
          <a:xfrm>
            <a:off x="7315200" y="2743200"/>
            <a:ext cx="201168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88352" y="290779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파일 업로드 / 첨부</a:t>
            </a:r>
            <a:endParaRPr lang="en-US" sz="1030" dirty="0"/>
          </a:p>
        </p:txBody>
      </p:sp>
      <p:sp>
        <p:nvSpPr>
          <p:cNvPr id="23" name="Shape 19"/>
          <p:cNvSpPr/>
          <p:nvPr/>
        </p:nvSpPr>
        <p:spPr>
          <a:xfrm>
            <a:off x="3749040" y="3822192"/>
            <a:ext cx="219456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B3A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822192" y="3986784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접수 검수 / 승인 / 반려</a:t>
            </a:r>
            <a:endParaRPr lang="en-US" sz="1030" dirty="0"/>
          </a:p>
        </p:txBody>
      </p:sp>
      <p:sp>
        <p:nvSpPr>
          <p:cNvPr id="25" name="Shape 21"/>
          <p:cNvSpPr/>
          <p:nvPr/>
        </p:nvSpPr>
        <p:spPr>
          <a:xfrm>
            <a:off x="6355080" y="3822192"/>
            <a:ext cx="214884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B3A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28232" y="3986784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알림 발송 / 이력 조회</a:t>
            </a:r>
            <a:endParaRPr lang="en-US" sz="1030" dirty="0"/>
          </a:p>
        </p:txBody>
      </p:sp>
      <p:sp>
        <p:nvSpPr>
          <p:cNvPr id="27" name="Shape 23"/>
          <p:cNvSpPr/>
          <p:nvPr/>
        </p:nvSpPr>
        <p:spPr>
          <a:xfrm>
            <a:off x="1298448" y="2148840"/>
            <a:ext cx="123444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1298448" y="3063240"/>
            <a:ext cx="123444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9418320" y="4133088"/>
            <a:ext cx="1097280" cy="0"/>
          </a:xfrm>
          <a:prstGeom prst="line">
            <a:avLst/>
          </a:prstGeom>
          <a:noFill/>
          <a:ln w="12700">
            <a:solidFill>
              <a:srgbClr val="10B3A3"/>
            </a:solidFill>
            <a:prstDash val="solid"/>
            <a:headEnd type="none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9372600" y="4133088"/>
            <a:ext cx="-1005840" cy="0"/>
          </a:xfrm>
          <a:prstGeom prst="line">
            <a:avLst/>
          </a:prstGeom>
          <a:noFill/>
          <a:ln w="12700">
            <a:solidFill>
              <a:srgbClr val="10B3A3"/>
            </a:solidFill>
            <a:prstDash val="solid"/>
            <a:headEnd type="none"/>
            <a:tailEnd type="triangle"/>
          </a:ln>
        </p:spPr>
      </p:sp>
      <p:sp>
        <p:nvSpPr>
          <p:cNvPr id="31" name="Text 27"/>
          <p:cNvSpPr/>
          <p:nvPr/>
        </p:nvSpPr>
        <p:spPr>
          <a:xfrm>
            <a:off x="2103120" y="50292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고객 주요 행위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458200" y="50292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운영 처리 행위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10515600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0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Project Deck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서비스 흐름도 (Sequence Diagram)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고객 신청부터 접수 완료 안내까지의 표준 처리 흐름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F9FB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453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고객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61288" y="1783080"/>
            <a:ext cx="0" cy="4434840"/>
          </a:xfrm>
          <a:prstGeom prst="line">
            <a:avLst/>
          </a:prstGeom>
          <a:noFill/>
          <a:ln w="12700">
            <a:solidFill>
              <a:srgbClr val="B8C3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325880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F9FB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453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웹페이지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1783080"/>
            <a:ext cx="0" cy="4434840"/>
          </a:xfrm>
          <a:prstGeom prst="line">
            <a:avLst/>
          </a:prstGeom>
          <a:noFill/>
          <a:ln w="12700">
            <a:solidFill>
              <a:srgbClr val="B8C3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325880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F9FB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453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백엔드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38928" y="1783080"/>
            <a:ext cx="0" cy="4434840"/>
          </a:xfrm>
          <a:prstGeom prst="line">
            <a:avLst/>
          </a:prstGeom>
          <a:noFill/>
          <a:ln w="12700">
            <a:solidFill>
              <a:srgbClr val="B8C3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1325880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F9FB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453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인증기관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50608" y="1783080"/>
            <a:ext cx="0" cy="4434840"/>
          </a:xfrm>
          <a:prstGeom prst="line">
            <a:avLst/>
          </a:prstGeom>
          <a:noFill/>
          <a:ln w="12700">
            <a:solidFill>
              <a:srgbClr val="B8C3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1325880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F9FB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7928" y="1453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CRM/접수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16568" y="1783080"/>
            <a:ext cx="0" cy="4434840"/>
          </a:xfrm>
          <a:prstGeom prst="line">
            <a:avLst/>
          </a:prstGeom>
          <a:noFill/>
          <a:ln w="12700">
            <a:solidFill>
              <a:srgbClr val="B8C3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32720" y="1325880"/>
            <a:ext cx="1234440" cy="420624"/>
          </a:xfrm>
          <a:prstGeom prst="roundRect">
            <a:avLst>
              <a:gd name="adj" fmla="val 10870"/>
            </a:avLst>
          </a:prstGeom>
          <a:solidFill>
            <a:srgbClr val="F9FB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96728" y="1453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</a:rPr>
              <a:t>알림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945368" y="1783080"/>
            <a:ext cx="0" cy="4434840"/>
          </a:xfrm>
          <a:prstGeom prst="line">
            <a:avLst/>
          </a:prstGeom>
          <a:noFill/>
          <a:ln w="12700">
            <a:solidFill>
              <a:srgbClr val="B8C3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1288" y="2057400"/>
            <a:ext cx="19659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07008" y="1892808"/>
            <a:ext cx="1874520" cy="1371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1. 신청 페이지 접속 / 정보 입력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27248" y="2560320"/>
            <a:ext cx="2011680" cy="0"/>
          </a:xfrm>
          <a:prstGeom prst="line">
            <a:avLst/>
          </a:prstGeom>
          <a:noFill/>
          <a:ln w="12700">
            <a:solidFill>
              <a:srgbClr val="10B3A3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72968" y="2395728"/>
            <a:ext cx="1920240" cy="1371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2. 신청 데이터 사전 검증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38928" y="3063240"/>
            <a:ext cx="201168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184648" y="2898648"/>
            <a:ext cx="1920240" cy="1371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3. 본인인증 요청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38928" y="3566160"/>
            <a:ext cx="2011680" cy="0"/>
          </a:xfrm>
          <a:prstGeom prst="line">
            <a:avLst/>
          </a:prstGeom>
          <a:noFill/>
          <a:ln w="12700">
            <a:solidFill>
              <a:srgbClr val="10B3A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138928" y="3566160"/>
            <a:ext cx="2011680" cy="0"/>
          </a:xfrm>
          <a:prstGeom prst="line">
            <a:avLst/>
          </a:prstGeom>
          <a:noFill/>
          <a:ln w="12700">
            <a:solidFill>
              <a:srgbClr val="10B3A3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184648" y="3401568"/>
            <a:ext cx="1920240" cy="1371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4. 인증 결과 반환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38928" y="4069080"/>
            <a:ext cx="397764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184648" y="3904488"/>
            <a:ext cx="3886200" cy="1371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5. 접수 데이터 등록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38928" y="4572000"/>
            <a:ext cx="3977640" cy="0"/>
          </a:xfrm>
          <a:prstGeom prst="line">
            <a:avLst/>
          </a:prstGeom>
          <a:noFill/>
          <a:ln w="12700">
            <a:solidFill>
              <a:srgbClr val="10B3A3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138928" y="4572000"/>
            <a:ext cx="3977640" cy="0"/>
          </a:xfrm>
          <a:prstGeom prst="line">
            <a:avLst/>
          </a:prstGeom>
          <a:noFill/>
          <a:ln w="12700">
            <a:solidFill>
              <a:srgbClr val="10B3A3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184648" y="4407408"/>
            <a:ext cx="3886200" cy="1371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6. 접수번호 / 상태 반환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138928" y="5074920"/>
            <a:ext cx="580644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184648" y="4910328"/>
            <a:ext cx="5715000" cy="1371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7. 완료 알림 발송 요청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127248" y="5577840"/>
            <a:ext cx="2011680" cy="0"/>
          </a:xfrm>
          <a:prstGeom prst="line">
            <a:avLst/>
          </a:prstGeom>
          <a:noFill/>
          <a:ln w="12700">
            <a:solidFill>
              <a:srgbClr val="10B3A3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127248" y="5577840"/>
            <a:ext cx="2011680" cy="0"/>
          </a:xfrm>
          <a:prstGeom prst="line">
            <a:avLst/>
          </a:prstGeom>
          <a:noFill/>
          <a:ln w="12700">
            <a:solidFill>
              <a:srgbClr val="10B3A3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172968" y="5413248"/>
            <a:ext cx="1920240" cy="1371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8. 완료 화면 표시 / 상태 조회 제공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4672" y="6172200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※ 보완 요청 발생 시 운영자가 CRM 상태를 변경하고, 고객은 웹페이지에서 재제출 수행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10515600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0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Project Deck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품질지표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개발·테스트·운영 단계에서 관리할 핵심 KPI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11018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99616"/>
            <a:ext cx="10689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품질 지표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1847088"/>
            <a:ext cx="960120" cy="438912"/>
          </a:xfrm>
          <a:prstGeom prst="rect">
            <a:avLst/>
          </a:prstGeom>
          <a:solidFill>
            <a:srgbClr val="103B73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84248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구분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1847088"/>
            <a:ext cx="2697480" cy="438912"/>
          </a:xfrm>
          <a:prstGeom prst="rect">
            <a:avLst/>
          </a:prstGeom>
          <a:solidFill>
            <a:srgbClr val="103B73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56232" y="1984248"/>
            <a:ext cx="2642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지표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847088"/>
            <a:ext cx="1417320" cy="438912"/>
          </a:xfrm>
          <a:prstGeom prst="rect">
            <a:avLst/>
          </a:prstGeom>
          <a:solidFill>
            <a:srgbClr val="103B73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984248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목표값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1847088"/>
            <a:ext cx="2011680" cy="438912"/>
          </a:xfrm>
          <a:prstGeom prst="rect">
            <a:avLst/>
          </a:prstGeom>
          <a:solidFill>
            <a:srgbClr val="103B73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71032" y="1984248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측정 시점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55280" y="1847088"/>
            <a:ext cx="2404872" cy="438912"/>
          </a:xfrm>
          <a:prstGeom prst="rect">
            <a:avLst/>
          </a:prstGeom>
          <a:solidFill>
            <a:srgbClr val="103B73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82712" y="198424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비고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" y="2286000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1401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성능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1828800" y="2286000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241401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주요 화면 로딩 시간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526280" y="228600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41401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3초 이내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943600" y="228600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241401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성능 테스트 / 운영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955280" y="2286000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2414016"/>
            <a:ext cx="231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P95 기준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68680" y="2724912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2852928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API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828800" y="2724912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285292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백엔드 평균 응답시간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526280" y="272491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85292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1초 이내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943600" y="2724912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8529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통합 테스트 / 운영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7955280" y="2724912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0" y="2852928"/>
            <a:ext cx="231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핵심 API 기준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868680" y="3163824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329184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안정성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1828800" y="3163824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74520" y="3291840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서비스 가용률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4526280" y="3163824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29184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99.9% 이상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5943600" y="316382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329184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운영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7955280" y="3163824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01000" y="3291840"/>
            <a:ext cx="231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월 기준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868680" y="3602736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373075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품질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1828800" y="3602736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74520" y="3730752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중대 결함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4526280" y="3602736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373075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오픈 시점 0건</a:t>
            </a:r>
            <a:endParaRPr lang="en-US" sz="930" dirty="0"/>
          </a:p>
        </p:txBody>
      </p:sp>
      <p:sp>
        <p:nvSpPr>
          <p:cNvPr id="54" name="Shape 52"/>
          <p:cNvSpPr/>
          <p:nvPr/>
        </p:nvSpPr>
        <p:spPr>
          <a:xfrm>
            <a:off x="5943600" y="360273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89320" y="37307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UAT / Go-Live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7955280" y="3602736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01000" y="3730752"/>
            <a:ext cx="231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Critical / High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868680" y="4041648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416966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개발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1828800" y="4041648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74520" y="416966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자동화 테스트 커버리지</a:t>
            </a:r>
            <a:endParaRPr lang="en-US" sz="930" dirty="0"/>
          </a:p>
        </p:txBody>
      </p:sp>
      <p:sp>
        <p:nvSpPr>
          <p:cNvPr id="62" name="Shape 60"/>
          <p:cNvSpPr/>
          <p:nvPr/>
        </p:nvSpPr>
        <p:spPr>
          <a:xfrm>
            <a:off x="4526280" y="4041648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416966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FE 70% / BE 80%</a:t>
            </a:r>
            <a:endParaRPr lang="en-US" sz="930" dirty="0"/>
          </a:p>
        </p:txBody>
      </p:sp>
      <p:sp>
        <p:nvSpPr>
          <p:cNvPr id="64" name="Shape 62"/>
          <p:cNvSpPr/>
          <p:nvPr/>
        </p:nvSpPr>
        <p:spPr>
          <a:xfrm>
            <a:off x="5943600" y="404164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89320" y="416966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개발 완료 시점</a:t>
            </a:r>
            <a:endParaRPr lang="en-US" sz="930" dirty="0"/>
          </a:p>
        </p:txBody>
      </p:sp>
      <p:sp>
        <p:nvSpPr>
          <p:cNvPr id="66" name="Shape 64"/>
          <p:cNvSpPr/>
          <p:nvPr/>
        </p:nvSpPr>
        <p:spPr>
          <a:xfrm>
            <a:off x="7955280" y="4041648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01000" y="4169664"/>
            <a:ext cx="231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핵심 경로 우선</a:t>
            </a:r>
            <a:endParaRPr lang="en-US" sz="930" dirty="0"/>
          </a:p>
        </p:txBody>
      </p:sp>
      <p:sp>
        <p:nvSpPr>
          <p:cNvPr id="68" name="Shape 66"/>
          <p:cNvSpPr/>
          <p:nvPr/>
        </p:nvSpPr>
        <p:spPr>
          <a:xfrm>
            <a:off x="868680" y="4480560"/>
            <a:ext cx="960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4400" y="460857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보안</a:t>
            </a:r>
            <a:endParaRPr lang="en-US" sz="930" dirty="0"/>
          </a:p>
        </p:txBody>
      </p:sp>
      <p:sp>
        <p:nvSpPr>
          <p:cNvPr id="70" name="Shape 68"/>
          <p:cNvSpPr/>
          <p:nvPr/>
        </p:nvSpPr>
        <p:spPr>
          <a:xfrm>
            <a:off x="1828800" y="4480560"/>
            <a:ext cx="2697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74520" y="460857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취약점 조치율</a:t>
            </a:r>
            <a:endParaRPr lang="en-US" sz="930" dirty="0"/>
          </a:p>
        </p:txBody>
      </p:sp>
      <p:sp>
        <p:nvSpPr>
          <p:cNvPr id="72" name="Shape 70"/>
          <p:cNvSpPr/>
          <p:nvPr/>
        </p:nvSpPr>
        <p:spPr>
          <a:xfrm>
            <a:off x="4526280" y="448056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0" y="460857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High 이상 100%</a:t>
            </a:r>
            <a:endParaRPr lang="en-US" sz="930" dirty="0"/>
          </a:p>
        </p:txBody>
      </p:sp>
      <p:sp>
        <p:nvSpPr>
          <p:cNvPr id="74" name="Shape 72"/>
          <p:cNvSpPr/>
          <p:nvPr/>
        </p:nvSpPr>
        <p:spPr>
          <a:xfrm>
            <a:off x="5943600" y="448056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89320" y="460857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보안 점검</a:t>
            </a:r>
            <a:endParaRPr lang="en-US" sz="930" dirty="0"/>
          </a:p>
        </p:txBody>
      </p:sp>
      <p:sp>
        <p:nvSpPr>
          <p:cNvPr id="76" name="Shape 74"/>
          <p:cNvSpPr/>
          <p:nvPr/>
        </p:nvSpPr>
        <p:spPr>
          <a:xfrm>
            <a:off x="7955280" y="4480560"/>
            <a:ext cx="24048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01000" y="4608576"/>
            <a:ext cx="2313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오픈 전 완료</a:t>
            </a:r>
            <a:endParaRPr lang="en-US" sz="930" dirty="0"/>
          </a:p>
        </p:txBody>
      </p:sp>
      <p:sp>
        <p:nvSpPr>
          <p:cNvPr id="78" name="Shape 76"/>
          <p:cNvSpPr/>
          <p:nvPr/>
        </p:nvSpPr>
        <p:spPr>
          <a:xfrm>
            <a:off x="960120" y="516636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DDF6F3"/>
          </a:solidFill>
          <a:ln w="12700">
            <a:solidFill>
              <a:srgbClr val="DDF6F3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3272" y="521208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3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모니터링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423160" y="52303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실시간 응답속도, 에러율, 장애 알림, 사용자 이탈률을 대시보드로 상시 확인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492240" y="5166360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65392" y="521208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품질 게이트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183880" y="5230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테스트 통과, 보안점검 완료, 롤백 시나리오 확보 후 운영 반영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0515600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0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Project Deck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7. 조직구성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PM 중심으로 FE/BE/QA/Infra가 협업하는 프로젝트 운영 체계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45152" y="1325880"/>
            <a:ext cx="2880360" cy="658368"/>
          </a:xfrm>
          <a:prstGeom prst="roundRect">
            <a:avLst>
              <a:gd name="adj" fmla="val 8333"/>
            </a:avLst>
          </a:prstGeom>
          <a:solidFill>
            <a:srgbClr val="103B73"/>
          </a:solidFill>
          <a:ln w="12700">
            <a:solidFill>
              <a:srgbClr val="103B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6592" y="15361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Project Manager / PMO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1984248"/>
            <a:ext cx="0" cy="41148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395728"/>
            <a:ext cx="923544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578608"/>
            <a:ext cx="1847088" cy="2697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578608"/>
            <a:ext cx="1847088" cy="42062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1576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기획 / UX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32104" y="320954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1546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 정의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" y="380390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49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설계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32104" y="439826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34340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여정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2578608"/>
            <a:ext cx="1847088" cy="2697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0" y="2578608"/>
            <a:ext cx="1847088" cy="42062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271576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Frontend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3072384" y="320954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1546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화면 개발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72384" y="380390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749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폼/상태 UI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72384" y="439826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34340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접근성/반응형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2578608"/>
            <a:ext cx="1847088" cy="2697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66360" y="2578608"/>
            <a:ext cx="1847088" cy="420624"/>
          </a:xfrm>
          <a:prstGeom prst="rect">
            <a:avLst/>
          </a:prstGeom>
          <a:solidFill>
            <a:srgbClr val="10B3A3"/>
          </a:solidFill>
          <a:ln w="12700">
            <a:solidFill>
              <a:srgbClr val="10B3A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71576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Backend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5312664" y="320954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31546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/ 비즈니스 로직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12664" y="380390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3749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연계 / 파일처리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12664" y="439826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434340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/ 상태 관리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06640" y="2578608"/>
            <a:ext cx="1847088" cy="2697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06640" y="2578608"/>
            <a:ext cx="1847088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271576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QA / 보안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7552944" y="320954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31546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통합/UAT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52944" y="380390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3749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 관리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52944" y="439826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434340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점검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646920" y="2578608"/>
            <a:ext cx="1847088" cy="269748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646920" y="2578608"/>
            <a:ext cx="1847088" cy="42062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92640" y="271576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Infra / DevOps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9793224" y="320954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21240" y="315468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CI/CD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793224" y="380390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21240" y="3749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모니터링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793224" y="439826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21240" y="434340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/ 롤백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9808" y="571500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6B7280"/>
                </a:solidFill>
              </a:rPr>
              <a:t>의사결정 원칙: 요구사항 승인 → 설계 리뷰 → 개발 완료 → 통합 테스트 → 보안/운영 점검 → 오픈 승인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10515600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0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Project Deck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8. 주요 이슈 및 해결 과정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수행 중 예상되는 리스크와 대응 방안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2697480" cy="1828800"/>
          </a:xfrm>
          <a:prstGeom prst="roundRect">
            <a:avLst>
              <a:gd name="adj" fmla="val 3000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</a:rPr>
              <a:t>이슈 1. 요구사항 변경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" y="208483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9968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서비스별 입력항목과 약관 정책 차이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786384" y="2560320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05456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컴포넌트 + 옵션 정책 분리 설계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584448" y="1463040"/>
            <a:ext cx="2697480" cy="1828800"/>
          </a:xfrm>
          <a:prstGeom prst="roundRect">
            <a:avLst>
              <a:gd name="adj" fmla="val 3000"/>
            </a:avLst>
          </a:prstGeom>
          <a:solidFill>
            <a:srgbClr val="DDF6F3"/>
          </a:solidFill>
          <a:ln w="12700">
            <a:solidFill>
              <a:srgbClr val="10B3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600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3A3"/>
                </a:solidFill>
              </a:rPr>
              <a:t>이슈 2. 인증 지연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30752" y="208483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2029968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본인인증 응답속도 편차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730752" y="2560320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58768" y="2505456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타임아웃·재시도·대체 안내 UX 적용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528816" y="1463040"/>
            <a:ext cx="2697480" cy="1828800"/>
          </a:xfrm>
          <a:prstGeom prst="roundRect">
            <a:avLst>
              <a:gd name="adj" fmla="val 3000"/>
            </a:avLst>
          </a:prstGeom>
          <a:solidFill>
            <a:srgbClr val="FFF4D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1600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이슈 3. FE/BE 검증 중복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208483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2029968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프론트와 백엔드 규칙 불일치 위험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675120" y="2560320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2505456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규칙 표준화 및 공통 스펙 관리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473184" y="1463040"/>
            <a:ext cx="2011680" cy="1828800"/>
          </a:xfrm>
          <a:prstGeom prst="roundRect">
            <a:avLst>
              <a:gd name="adj" fmla="val 3000"/>
            </a:avLst>
          </a:prstGeom>
          <a:solidFill>
            <a:srgbClr val="FDECEC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0344" y="16002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A5A"/>
                </a:solidFill>
              </a:rPr>
              <a:t>이슈 4. 운영 반영 리스크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19488" y="208483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47504" y="202996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 후 장애 시 고객 영향 우려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619488" y="2560320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47504" y="250545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게이트 + 롤백 시나리오 사전 점검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40080" y="3767328"/>
            <a:ext cx="108447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" y="389534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계획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14400" y="4251960"/>
            <a:ext cx="384048" cy="384048"/>
          </a:xfrm>
          <a:prstGeom prst="ellipse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370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444752" y="4233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B2545"/>
                </a:solidFill>
              </a:rPr>
              <a:t>정책 확정</a:t>
            </a:r>
            <a:endParaRPr lang="en-US" sz="1060" dirty="0"/>
          </a:p>
        </p:txBody>
      </p:sp>
      <p:sp>
        <p:nvSpPr>
          <p:cNvPr id="35" name="Text 33"/>
          <p:cNvSpPr/>
          <p:nvPr/>
        </p:nvSpPr>
        <p:spPr>
          <a:xfrm>
            <a:off x="1444752" y="4462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요구사항·약관·검증 룰을 상세화하고 변경관리 기준 수립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3063240" y="4434840"/>
            <a:ext cx="310896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566160" y="4251960"/>
            <a:ext cx="384048" cy="384048"/>
          </a:xfrm>
          <a:prstGeom prst="ellipse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4370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96512" y="4233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B2545"/>
                </a:solidFill>
              </a:rPr>
              <a:t>기술 검증</a:t>
            </a:r>
            <a:endParaRPr lang="en-US" sz="1060" dirty="0"/>
          </a:p>
        </p:txBody>
      </p:sp>
      <p:sp>
        <p:nvSpPr>
          <p:cNvPr id="40" name="Text 38"/>
          <p:cNvSpPr/>
          <p:nvPr/>
        </p:nvSpPr>
        <p:spPr>
          <a:xfrm>
            <a:off x="4096512" y="4462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본인인증/파일/알림 연계에 대한 사전 인터페이스 테스트 진행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5715000" y="4434840"/>
            <a:ext cx="310896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217920" y="4251960"/>
            <a:ext cx="384048" cy="384048"/>
          </a:xfrm>
          <a:prstGeom prst="ellipse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4370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48272" y="4233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B2545"/>
                </a:solidFill>
              </a:rPr>
              <a:t>품질 확보</a:t>
            </a:r>
            <a:endParaRPr lang="en-US" sz="1060" dirty="0"/>
          </a:p>
        </p:txBody>
      </p:sp>
      <p:sp>
        <p:nvSpPr>
          <p:cNvPr id="45" name="Text 43"/>
          <p:cNvSpPr/>
          <p:nvPr/>
        </p:nvSpPr>
        <p:spPr>
          <a:xfrm>
            <a:off x="6748272" y="4462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테스트 자동화·결함관리·보안점검을 품질 게이트에 반영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8366760" y="4434840"/>
            <a:ext cx="310896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869680" y="4251960"/>
            <a:ext cx="384048" cy="384048"/>
          </a:xfrm>
          <a:prstGeom prst="ellipse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0" y="4370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400032" y="4233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B2545"/>
                </a:solidFill>
              </a:rPr>
              <a:t>안정적 오픈</a:t>
            </a:r>
            <a:endParaRPr lang="en-US" sz="1060" dirty="0"/>
          </a:p>
        </p:txBody>
      </p:sp>
      <p:sp>
        <p:nvSpPr>
          <p:cNvPr id="50" name="Text 48"/>
          <p:cNvSpPr/>
          <p:nvPr/>
        </p:nvSpPr>
        <p:spPr>
          <a:xfrm>
            <a:off x="9400032" y="4462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F2937"/>
                </a:solidFill>
              </a:rPr>
              <a:t>시범 운영 → 점진 반영 → 운영 모니터링으로 리스크 최소화</a:t>
            </a:r>
            <a:endParaRPr lang="en-US" sz="940" dirty="0"/>
          </a:p>
        </p:txBody>
      </p:sp>
      <p:sp>
        <p:nvSpPr>
          <p:cNvPr id="51" name="Text 49"/>
          <p:cNvSpPr/>
          <p:nvPr/>
        </p:nvSpPr>
        <p:spPr>
          <a:xfrm>
            <a:off x="10515600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0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Project Deck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9. 기대 효과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표준화된 신청 채널 구축을 통해 고객 경험과 운영 효율을 동시에 개선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7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2788920" cy="3200400"/>
          </a:xfrm>
          <a:prstGeom prst="roundRect">
            <a:avLst>
              <a:gd name="adj" fmla="val 2295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976" y="190195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FF"/>
                </a:solidFill>
              </a:rPr>
              <a:t>고객 관점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78992" y="245059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2395728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신청 절차 간소화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8992" y="307238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301752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상태 실시간 확인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8992" y="3694176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363931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없는 입력 경험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691640"/>
            <a:ext cx="2788920" cy="3200400"/>
          </a:xfrm>
          <a:prstGeom prst="roundRect">
            <a:avLst>
              <a:gd name="adj" fmla="val 2295"/>
            </a:avLst>
          </a:prstGeom>
          <a:solidFill>
            <a:srgbClr val="DDF6F3"/>
          </a:solidFill>
          <a:ln w="12700">
            <a:solidFill>
              <a:srgbClr val="10B3A3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97096" y="190195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3A3"/>
                </a:solidFill>
              </a:rPr>
              <a:t>운영 관점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5112" y="245059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2395728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접수/검수 프로세스 표준화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25112" y="307238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301752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누락/중복 업무 감소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694176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363931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 이력 추적성 확보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0" y="1691640"/>
            <a:ext cx="2788920" cy="3200400"/>
          </a:xfrm>
          <a:prstGeom prst="roundRect">
            <a:avLst>
              <a:gd name="adj" fmla="val 2295"/>
            </a:avLst>
          </a:prstGeom>
          <a:solidFill>
            <a:srgbClr val="FFF4D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43216" y="1901952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기술 관점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71232" y="2450592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2395728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재사용 가능한 FE/BE 구조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71232" y="3072384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301752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연계/배포/모니터링 체계화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71232" y="3694176"/>
            <a:ext cx="73152" cy="731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9248" y="363931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향후 서비스 확장 기반 마련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234440" y="5394960"/>
            <a:ext cx="9738360" cy="585216"/>
          </a:xfrm>
          <a:prstGeom prst="roundRect">
            <a:avLst>
              <a:gd name="adj" fmla="val 7813"/>
            </a:avLst>
          </a:prstGeom>
          <a:solidFill>
            <a:srgbClr val="103B73"/>
          </a:solidFill>
          <a:ln w="12700">
            <a:solidFill>
              <a:srgbClr val="103B7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81328" y="5596128"/>
            <a:ext cx="9235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본 샘플은 실제 프로젝트 제안서/착수보고 자료의 기본 골격으로 바로 재사용할 수 있습니다.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0" y="6510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5A0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 Project Deck |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고객서비스사용신청 웹페이지 개발 프로젝트</dc:title>
  <dc:subject>고객서비스사용신청 웹페이지 개발 프로젝트 샘플</dc:subject>
  <dc:creator>OpenAI</dc:creator>
  <cp:lastModifiedBy>OpenAI</cp:lastModifiedBy>
  <cp:revision>1</cp:revision>
  <dcterms:created xsi:type="dcterms:W3CDTF">2026-04-16T07:47:10Z</dcterms:created>
  <dcterms:modified xsi:type="dcterms:W3CDTF">2026-04-16T07:47:10Z</dcterms:modified>
</cp:coreProperties>
</file>